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0c427339f1457e" /><Relationship Type="http://schemas.openxmlformats.org/officeDocument/2006/relationships/extended-properties" Target="/docProps/app.xml" Id="R116e3cded3a14e38" /><Relationship Type="http://schemas.openxmlformats.org/officeDocument/2006/relationships/officeDocument" Target="/ppt/presentation.xml" Id="Rca0b1f63e80142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132e6c4bd0498e"/>
  </p:sldMasterIdLst>
  <p:notesMasterIdLst>
    <p:notesMasterId xmlns:r="http://schemas.openxmlformats.org/officeDocument/2006/relationships" r:id="Ra9a56016613d4149"/>
  </p:notesMasterIdLst>
  <p:sldIdLst>
    <p:sldId xmlns:r="http://schemas.openxmlformats.org/officeDocument/2006/relationships" id="256" r:id="R44c1a20297e04ed0"/>
    <p:sldId xmlns:r="http://schemas.openxmlformats.org/officeDocument/2006/relationships" id="257" r:id="R1f4f532af5f04c47"/>
    <p:sldId xmlns:r="http://schemas.openxmlformats.org/officeDocument/2006/relationships" id="258" r:id="R1edf2b5653674e85"/>
    <p:sldId xmlns:r="http://schemas.openxmlformats.org/officeDocument/2006/relationships" id="259" r:id="R7f164e893386496e"/>
    <p:sldId xmlns:r="http://schemas.openxmlformats.org/officeDocument/2006/relationships" id="260" r:id="R2ef58a7673134ccc"/>
    <p:sldId xmlns:r="http://schemas.openxmlformats.org/officeDocument/2006/relationships" id="261" r:id="R01bf5999e8384c29"/>
    <p:sldId xmlns:r="http://schemas.openxmlformats.org/officeDocument/2006/relationships" id="262" r:id="R0e22a7fe751549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7ae1f19b6b492f" /><Relationship Type="http://schemas.openxmlformats.org/officeDocument/2006/relationships/slideMaster" Target="/ppt/slideMasters/slideMaster1.xml" Id="Rb6132e6c4bd0498e" /><Relationship Type="http://schemas.openxmlformats.org/officeDocument/2006/relationships/notesMaster" Target="/ppt/notesMasters/notesMaster1.xml" Id="Ra9a56016613d4149" /><Relationship Type="http://schemas.openxmlformats.org/officeDocument/2006/relationships/presProps" Target="/ppt/presProps.xml" Id="R37b258f98c4746c4" /><Relationship Type="http://schemas.openxmlformats.org/officeDocument/2006/relationships/tableStyles" Target="/ppt/tableStyles.xml" Id="Re7cf0a8d4b494479" /><Relationship Type="http://schemas.openxmlformats.org/officeDocument/2006/relationships/slide" Target="/ppt/slides/slide1.xml" Id="R44c1a20297e04ed0" /><Relationship Type="http://schemas.openxmlformats.org/officeDocument/2006/relationships/slide" Target="/ppt/slides/slide2.xml" Id="R1f4f532af5f04c47" /><Relationship Type="http://schemas.openxmlformats.org/officeDocument/2006/relationships/slide" Target="/ppt/slides/slide3.xml" Id="R1edf2b5653674e85" /><Relationship Type="http://schemas.openxmlformats.org/officeDocument/2006/relationships/slide" Target="/ppt/slides/slide4.xml" Id="R7f164e893386496e" /><Relationship Type="http://schemas.openxmlformats.org/officeDocument/2006/relationships/slide" Target="/ppt/slides/slide5.xml" Id="R2ef58a7673134ccc" /><Relationship Type="http://schemas.openxmlformats.org/officeDocument/2006/relationships/slide" Target="/ppt/slides/slide6.xml" Id="R01bf5999e8384c29" /><Relationship Type="http://schemas.openxmlformats.org/officeDocument/2006/relationships/slide" Target="/ppt/slides/slide7.xml" Id="R0e22a7fe751549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60bb7f98347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37b85586de4141" /><Relationship Type="http://schemas.openxmlformats.org/officeDocument/2006/relationships/notesMaster" Target="/ppt/notesMasters/notesMaster1.xml" Id="R4f5cd26d32af43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d745594c4649ae" /><Relationship Type="http://schemas.openxmlformats.org/officeDocument/2006/relationships/notesMaster" Target="/ppt/notesMasters/notesMaster1.xml" Id="R2a6e7a7cf67347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250614da6a4ff9" /><Relationship Type="http://schemas.openxmlformats.org/officeDocument/2006/relationships/notesMaster" Target="/ppt/notesMasters/notesMaster1.xml" Id="R114cc72f01e140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bcfbd6d0a472f" /><Relationship Type="http://schemas.openxmlformats.org/officeDocument/2006/relationships/notesMaster" Target="/ppt/notesMasters/notesMaster1.xml" Id="Rd23b9c3d9a0540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43d0d414e64d9e" /><Relationship Type="http://schemas.openxmlformats.org/officeDocument/2006/relationships/notesMaster" Target="/ppt/notesMasters/notesMaster1.xml" Id="R436a6b7b1a1942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90405a72f24961" /><Relationship Type="http://schemas.openxmlformats.org/officeDocument/2006/relationships/notesMaster" Target="/ppt/notesMasters/notesMaster1.xml" Id="R53935cd8f83a44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57d262c86744c1" /><Relationship Type="http://schemas.openxmlformats.org/officeDocument/2006/relationships/notesMaster" Target="/ppt/notesMasters/notesMaster1.xml" Id="R76af8b09eee8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production constraint and the correctness contract. Source: docs/interview-demo-script.md and docs/database-schema-inventory.md.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railway.toml, server/db, docs/database-schema-inventory.md. The production Railway service currently mounts free-design-md-volume.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this contract before the live agent run so the audience knows how success will be judged. Source: docs/interview-demo-script.md.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scripts/snapshot-sqlite.ts, scripts/migrate-sqlite-to-postgres.ts, scripts/verify-postgres-migration.ts, docs/preview-deployment.md.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supabase/migrations/20260923040714_create_app_schema.sql and docs/migration-rehearsal-report.md. The generic table inventory warns that RLS is disabled; the formal security advisor is clean because the schema is private and revoked.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docs/migration-rehearsal-report.md and the validated pnpm demo:reset run on 2026-09-22 America/Los_Angeles. The fixture contains synthetic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docs/preview-deployment.md, docs/production-cutover-checklist.md, docs/rollback-plan.md, and docs/evaluation-rubric.md.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0bb0ec443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58b679ed04f84" /><Relationship Type="http://schemas.openxmlformats.org/officeDocument/2006/relationships/slideLayout" Target="/ppt/slideLayouts/slideLayout1.xml" Id="Rabd4c5ff56d243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d4c5ff56d243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ed67d682e48aa" /><Relationship Type="http://schemas.openxmlformats.org/officeDocument/2006/relationships/notesSlide" Target="/ppt/notesSlides/notesSlide1.xml" Id="R962bbdf98b30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fae89ed0445e0" /><Relationship Type="http://schemas.openxmlformats.org/officeDocument/2006/relationships/notesSlide" Target="/ppt/notesSlides/notesSlide2.xml" Id="R3b7216cb9b85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98f3d8b394109" /><Relationship Type="http://schemas.openxmlformats.org/officeDocument/2006/relationships/notesSlide" Target="/ppt/notesSlides/notesSlide3.xml" Id="R647aead2eb454d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1c9cb78964216" /><Relationship Type="http://schemas.openxmlformats.org/officeDocument/2006/relationships/notesSlide" Target="/ppt/notesSlides/notesSlide4.xml" Id="R229d1c850d654c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ec8a0aaf6428f" /><Relationship Type="http://schemas.openxmlformats.org/officeDocument/2006/relationships/notesSlide" Target="/ppt/notesSlides/notesSlide5.xml" Id="R67cbd4a559974b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b05d9010943bc" /><Relationship Type="http://schemas.openxmlformats.org/officeDocument/2006/relationships/notesSlide" Target="/ppt/notesSlides/notesSlide6.xml" Id="R4e7255bc54a142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9f94ccf1f4af9" /><Relationship Type="http://schemas.openxmlformats.org/officeDocument/2006/relationships/notesSlide" Target="/ppt/notesSlides/notesSlide7.xml" Id="R7d18c787d2c54b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F5C49-C6BF-43E4-98CE-51B16270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143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0ECF2-59CD-47FE-97BB-9460E2CF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942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Migrating a live SQLite app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 Supabase Postgres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82D78-C20C-4DA1-B4AA-9B299F3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DF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DF7EA"/>
                </a:solidFill>
                <a:latin typeface="Helvetica Neue"/>
                <a:ea typeface="Helvetica Neue"/>
                <a:cs typeface="Helvetica Neue"/>
              </a:rPr>
              <a:t>An agent migration demo with observable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53963-47B3-406D-8638-F5A52648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01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B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7CBC3"/>
                </a:solidFill>
                <a:latin typeface="Helvetica Neue"/>
                <a:ea typeface="Helvetica Neue"/>
                <a:cs typeface="Helvetica Neue"/>
              </a:rPr>
              <a:t>13 tables, Better Auth sessions, credit ledger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EA25C-7800-4E40-AB0B-D8FB049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86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B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BC3"/>
                </a:solidFill>
                <a:latin typeface="Helvetica Neue"/>
                <a:ea typeface="Helvetica Neue"/>
                <a:cs typeface="Helvetica Neue"/>
              </a:rPr>
              <a:t>Free design.md interview demo</a:t>
            </a:r>
          </a:p>
        </p:txBody>
      </p:sp>
    </p:spTree>
    <p:extLst>
      <p:ext uri="{BB962C8B-B14F-4D97-AF65-F5344CB8AC3E}">
        <p14:creationId xmlns:p14="http://schemas.microsoft.com/office/powerpoint/2010/main" val="448358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476750" y="3071813"/>
            <a:ext cx="3000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865B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B9274-9177-4567-92FF-0323B1DA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Current production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104D7-39D4-48B8-8ED8-FD14C116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Railway owns both the process and the durable database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EC9A4-3FBE-4B26-9A24-3934B661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3429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Railway container</a:t>
            </a:r>
          </a:p>
          <a:p xmlns:a="http://schemas.openxmlformats.org/drawingml/2006/main">
            <a:pPr algn="ctr">
              <a:def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React Router + Better Auth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34AC9-03D3-45C4-8756-ED61D98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7E4"/>
          </a:solidFill>
          <a:ln xmlns:a="http://schemas.openxmlformats.org/drawingml/2006/main" w="14288">
            <a:solidFill>
              <a:srgbClr val="F1B84B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Attached volume</a:t>
            </a:r>
          </a:p>
          <a:p xmlns:a="http://schemas.openxmlformats.org/drawingml/2006/main">
            <a:pPr algn="ctr">
              <a:def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/app/data/app.db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CE0D0-E6DD-4FBD-9578-89C209F9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905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Auth identities and sessions</a:t>
            </a:r>
          </a:p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Saved public and private designs</a:t>
            </a:r>
          </a:p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Credits, purchases, Stripe events</a:t>
            </a:r>
          </a:p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Operational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7C66E-1B39-4F4D-AD25-E6092D66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33875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The volume couples recovery, scaling, and deployment to one service.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88651-64C8-4257-8488-70540E1E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Free design.md  /  Supabase migration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6AD59-9DA9-419C-913E-4312F427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49152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B1609-CC1D-48A1-A8BB-86E2720E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The migration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727D9-76D8-455D-B92B-94B36075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Success requires behavioral parity, not a successful COPY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FAFB3-6906-4E29-8C4A-22FA751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38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Migrate to Supabase Postgres without losing data, breaking sessions, crossing owner boundaries, or double-granting credits.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3337C-2355-4496-A3C9-0AE6339E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5334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C9447-43A9-48E5-93A3-34162100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Preserve IDs and content digests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AC05A-81C4-4B85-8AEF-A1F78BD9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5334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DECFA-7FB8-4347-A9A7-63B877EE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Restore imported Better Auth sessions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D32E4-9B74-4696-AD14-CE6F3369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67100"/>
            <a:ext cx="5334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C2417-741A-4D8F-9259-C5D77DF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Prove owner isolation in positive and negative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7AF5D-1B3A-475C-A61C-E8D4DEA0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43400"/>
            <a:ext cx="5334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68355-687C-4308-B8D2-8EE4E885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Keep wallet and Stripe operations idempotent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9E99C-0094-4606-9A2A-7FF6CCAE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Free design.md  /  Supabase migration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324E2-EB24-4B0D-A8C7-83F23C0C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2478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563100" y="3409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65B"/>
            </a:solidFill>
            <a:prstDash val="solid"/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39000" y="3409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65B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14900" y="3409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65B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0800" y="3409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65B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C83C5-4F16-41BC-A00A-112898B2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Agent migration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769C9-7B3B-4324-8C14-BED16230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The demo exposes the reasoning checkpoints and the evidence they produce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24BA1-A8DA-4ABE-9EEF-1F3A22C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7526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BC390-F859-4AC6-B2DA-6B5F3E05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Actual SQLite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schema + queries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AA79C-A544-4ACE-9933-241A948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7526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BA1C2-F81D-49B6-831B-5BCE0AB9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5270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Versioned Postgres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migrations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3E788-7356-4549-A9F8-452B5450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526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2E2D0-CEDD-49DB-9FD9-4C5090C9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5270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Transfer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Consistent backup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transactional import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F102E-E547-4832-A42F-42BE252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7526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2D7A1-A804-41AB-9D23-170A7BC7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Counts, digests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and invariants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75CF-0AF0-4054-94DE-9A27630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7526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54D61-066E-4A90-8265-3D64576F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14288">
            <a:solidFill>
              <a:srgbClr val="3ECF8E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Preview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Railway restart</a:t>
            </a:r>
          </a:p>
          <a:p xmlns:a="http://schemas.openxmlformats.org/drawingml/2006/main">
            <a:pPr algn="ctr">
              <a:def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and smoke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AA6E0-D68E-4E83-B62A-611E540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Every stage can fail closed. The importer refuses a nonempty target and the preview stays isolated from production credentials.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7D1E1-235D-4478-B914-093CEDF5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Free design.md  /  Supabase migration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DAE5B-6DFC-46DF-B60F-78449E8D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1438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000875" y="3119438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65B"/>
            </a:solidFill>
            <a:prstDash val="solid"/>
            <a:tailEnd type="triangle" w="sm" len="sm"/>
          </a:ln>
        </p:spPr>
      </p:cxn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3119438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65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91BAC-6D3A-4A86-B71E-9B6C025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Target architecture and security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C8441-1B34-40B7-90B8-6BF7AAB4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Railway keeps application identity; Supabase provides private Postgres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917E7-EE35-44CA-A50D-59305C5A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Railway preview</a:t>
            </a:r>
          </a:p>
          <a:p xmlns:a="http://schemas.openxmlformats.org/drawingml/2006/main">
            <a:pPr algn="ctr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restricted runtime login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C117D-A96D-4605-9B01-36F9741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2476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14288">
            <a:solidFill>
              <a:srgbClr val="3ECF8E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Supabase</a:t>
            </a:r>
          </a:p>
          <a:p xmlns:a="http://schemas.openxmlformats.org/drawingml/2006/main">
            <a:pPr algn="ctr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session pooler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35F4C-D29C-478B-85A4-AF449B9C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30480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2018"/>
          </a:solidFill>
          <a:ln xmlns:a="http://schemas.openxmlformats.org/drawingml/2006/main" w="14288">
            <a:solidFill>
              <a:srgbClr val="092018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Private app schema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 Postgres 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B6468-DF31-4F26-86AE-2004710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No Data API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36A4F-F005-41FF-857A-C4025E30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RLS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EA840-6C09-446B-8F4A-0E273587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The private schema revokes public, anon, and authenticated access. Better Auth has no Supabase JWT tenant context, so owner checks stay in the server application and acceptance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6B36E-045D-4E0C-B069-148CA260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Free design.md  /  Supabase migration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2C19F-6B37-4BDE-BD32-F7ED1E56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25224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3F25B-A5D5-467F-AB94-AE7228F2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Verified rehearsal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7C4D0-0E26-4E55-8464-F40EBA4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One command rebuilds the database, imports the fixture, and reruns independent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E9D19-DD50-4154-A1D8-F182D84F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0287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851F0-FD18-4701-A500-60D72568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287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Tables and indexes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8107B-9B03-45FE-BA46-C5D46265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478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13 tables 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49EA0-F49F-4F5F-A7AA-6BBDC956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3360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8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138E8-853B-4E74-9F83-33F887BE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0287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0AD56-932B-4BED-B4BB-4178EA64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764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Rows and content digests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0BB8A-FCA8-4DB9-9EEC-890AEC99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955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18 synthetic rows compared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6428A-86C2-4FC8-949D-19FDA116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8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46A65-0B53-4E28-ADE3-5E3518A5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0287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EF08C-CE3C-4F9D-99F0-F3A36ECF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241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Owner isolation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803E9-D9C4-46B8-A373-7AE587E6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432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distributions preserved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9B99C-FFED-49F1-9229-F2A453D1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2900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8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158A2-1323-40DE-B297-2E1148EF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287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97E54-0B05-4433-B726-C62CD5F2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71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Authentication relationships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E6859-9884-4A28-9BDE-6899E6CE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909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session and account references valid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F029F-3D0C-4FC6-B75E-3E0D1D37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7670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8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60D9D-DFCE-47D5-9815-41B076CB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0287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389A2-9DE9-4527-A9ED-EDB761B5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195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Billing invariants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F79A9-7855-4E66-89A6-E39DC554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wallet and idempotency checks passed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B732D-3483-4B93-8AB6-4BC4DB95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8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A5A17-9BBE-41C8-B8BF-3AAD15FF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287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DF7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AC6BA-DBBF-4B62-82D8-9846C9A5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72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Public artifact identifiers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3ED4A-4B25-4E05-8F3F-634A39D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863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public IDs preserved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B300B0-8396-45B3-BB2D-B19EA589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46 SQL assertions, 8 database integration tests, 329 unit 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CDFDA3-876D-4A6F-BB35-E2474F75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Free design.md  /  Supabase migration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26C20-53DB-4ECA-8665-AF8C3000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98038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90989-142E-45F2-9598-7F27C5E5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Safe stopping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0174F-5861-40A4-96E7-B6D0FA75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The preview can proceed; production waits for credential transfer and a recent encrypted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D82A0-39C6-4E02-A6A0-FBAE51E8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865B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0CFED-61D7-406D-BA3C-E013D1DD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Hosted schema and advisors</a:t>
            </a:r>
          </a:p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Empty Railway preview environment</a:t>
            </a:r>
          </a:p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Versioned preview image tag</a:t>
            </a:r>
          </a:p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Write-pause and rollback controls</a:t>
            </a:r>
          </a:p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Interview runbook and fallback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818B-8401-465F-AA44-A5508C4E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54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6544D"/>
                </a:solidFill>
                <a:latin typeface="Helvetica Neue"/>
                <a:ea typeface="Helvetica Neue"/>
                <a:cs typeface="Helvetica Neue"/>
              </a:rPr>
              <a:t>Gated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0F973-DDF8-4141-982F-23B15C34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667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Restricted database credential in Railway</a:t>
            </a:r>
          </a:p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Synthetic hosted import and preview smoke test</a:t>
            </a:r>
          </a:p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Recent production-shaped snapshot rehearsal</a:t>
            </a:r>
          </a:p>
          <a:p xmlns:a="http://schemas.openxmlformats.org/drawingml/2006/main">
            <a:pPr algn="l">
              <a:def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Approved production maintenance window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D8E69-AD12-4FCE-8B24-859851A3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9D0E8-3619-4908-A27C-9DF4BA51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92018"/>
                </a:solidFill>
                <a:latin typeface="Helvetica Neue"/>
                <a:ea typeface="Helvetica Neue"/>
                <a:cs typeface="Helvetica Neue"/>
              </a:rPr>
              <a:t>Comparative claims remain gated too: five trials per condition, identical setup, correctness scored before latency.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89191-39DD-4389-943F-D147702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Free design.md  /  Supabase migration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BB754-D14A-47F1-BADA-C4175054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E625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262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2026-09-23T05:51:08.9260000Z</dcterms:created>
  <dcterms:modified xsi:type="dcterms:W3CDTF">2026-09-23T05:51:08.9260000Z</dcterms:modified>
</coreProperties>
</file>